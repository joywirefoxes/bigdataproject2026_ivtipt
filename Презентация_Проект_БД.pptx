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5" r:id="rId5"/>
    <p:sldId id="264" r:id="rId6"/>
    <p:sldId id="289" r:id="rId7"/>
    <p:sldId id="290" r:id="rId8"/>
    <p:sldId id="263" r:id="rId9"/>
    <p:sldId id="28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28CF7-755E-455F-BCD1-0BF37F9E4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410839-061B-46D1-AF26-59371FF23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8D8D3F-F0CD-4F34-A1CD-01E77507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0D14-3F20-4D0F-9AE9-24E0A34FCF9E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5B5ADF-1488-46D1-87C4-C05826B2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AF4BDE-D741-4DB2-802B-0436A21B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EBAB-E0B8-4310-BE3D-3338045B1C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340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FD274B-8DDF-4093-8475-C9D0D4A1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63D1DF-4584-409E-B858-515A01CC5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BE5FDE-31FC-4820-88A3-472D444D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0D14-3F20-4D0F-9AE9-24E0A34FCF9E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DE2EDF-2E22-4325-88D3-92894D36A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CD2DFB-6DE3-4AF4-8EF1-23FC7634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EBAB-E0B8-4310-BE3D-3338045B1C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4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81BDD-1C07-4B11-B9D4-D4EDA7C9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6ED6FF-BCFB-4B01-BCD3-685FCFB34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5E7C07-C0B5-4B31-BDBA-994EF888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0D14-3F20-4D0F-9AE9-24E0A34FCF9E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1C2B95-8340-45D5-944F-E0CBED3C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E6A8BD-C8E7-499C-8F3C-A5A2A574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EBAB-E0B8-4310-BE3D-3338045B1C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3266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30686-9BF6-40F3-9D03-7505F17B1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EAA89E-62C7-4D30-BB57-331A74646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C500C3-031D-4563-BA7F-1D26DBEF3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3936F4-3B89-4FF8-9682-60B6AAC0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0D14-3F20-4D0F-9AE9-24E0A34FCF9E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5A28AF-FD01-4308-92FF-3F0C5C06A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E1B23E-E96C-4161-8157-AC4DF3F5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EBAB-E0B8-4310-BE3D-3338045B1C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088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D7EF2-1A74-4D67-B292-343D97EED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BFA316-2B82-4AA9-A524-92EC080F8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69139F-5EF0-45F5-9BE3-C8D28AE9E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F5268EC-37A5-4E4F-8B80-D7AA9F213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74E4919-07B9-405F-BD44-76043E9FE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7BF234-BE2D-4321-B747-9292EF68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0D14-3F20-4D0F-9AE9-24E0A34FCF9E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189C04B-1219-4B86-8E1D-9679CDEA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60E7E17-7A46-45A7-B2FF-265901BC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EBAB-E0B8-4310-BE3D-3338045B1C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976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ED21D-B9FE-42EC-BFB1-5B74A357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819F4A-3744-49A1-8753-DE3A243DC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0D14-3F20-4D0F-9AE9-24E0A34FCF9E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8AA99C2-9063-4E60-A200-705F9DB63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2DEE02-FA1E-4224-9FA0-E9066D8D7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EBAB-E0B8-4310-BE3D-3338045B1C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689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3C881B7-0B3F-43EE-A8A8-2A57A70D2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0D14-3F20-4D0F-9AE9-24E0A34FCF9E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CD45608-A32C-4F52-BAE3-EE7EED854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528257-F5F9-4221-A56F-401E1D5DE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EBAB-E0B8-4310-BE3D-3338045B1C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627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D01CAB-FD64-43AC-8FFE-EDC79AD0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E7EE9C-848C-4975-9E4D-E7B893B47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6D9AFC-8C2C-4E88-89DC-B4E20B9D2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63FBB6-9280-482F-9DA2-E718C5014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0D14-3F20-4D0F-9AE9-24E0A34FCF9E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4B783-F4E6-4DB6-81E4-BD6B9A4F2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344278-2AD1-4F8E-9ED2-A758CDB8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EBAB-E0B8-4310-BE3D-3338045B1C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787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E8A6C-0F3D-4794-8797-26B5F9CA0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EB4AEEC-4341-4F47-A7FA-10A9AD929E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DA1D05-9508-43F2-BEBC-AC79699CF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572059-10DE-483C-8967-01AB42153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0D14-3F20-4D0F-9AE9-24E0A34FCF9E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DC9C26-66F3-4038-9560-70B446578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4BC0DF-1142-4EC8-8C99-943CB8167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EBAB-E0B8-4310-BE3D-3338045B1C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20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D56D5C-4B5D-433D-99FE-4BA46B20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AB498A-1A11-4188-B31B-015D3BF0D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086436-CD57-4912-8745-1CE5C3059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0D14-3F20-4D0F-9AE9-24E0A34FCF9E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D047F9-1588-48B3-BEE0-2A423612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C6552B-60E1-4A9A-8B67-2F78C1C3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EBAB-E0B8-4310-BE3D-3338045B1C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24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4DC1F11-6B2B-45AF-BDD7-3F285DA9C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605713C-40D4-44AA-9550-E6DC5128D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9129FF-3A5C-4835-9FCA-F46FE3B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0D14-3F20-4D0F-9AE9-24E0A34FCF9E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C5EFB3-DE57-4AC3-A88A-6B19692F2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E6419E-3933-4A1B-B8F7-DCC86BFAB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EBAB-E0B8-4310-BE3D-3338045B1C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659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итульный слайд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" name="object 5"/>
          <p:cNvSpPr/>
          <p:nvPr userDrawn="1"/>
        </p:nvSpPr>
        <p:spPr bwMode="auto">
          <a:xfrm>
            <a:off x="4859928" y="1"/>
            <a:ext cx="7344561" cy="6849482"/>
          </a:xfrm>
          <a:custGeom>
            <a:avLst/>
            <a:gdLst>
              <a:gd name="connsiteX0" fmla="*/ 12925781 w 12925781"/>
              <a:gd name="connsiteY0" fmla="*/ 11289792 h 13003185"/>
              <a:gd name="connsiteX1" fmla="*/ 0 w 12925781"/>
              <a:gd name="connsiteY1" fmla="*/ 13003185 h 13003185"/>
              <a:gd name="connsiteX2" fmla="*/ 7480918 w 12925781"/>
              <a:gd name="connsiteY2" fmla="*/ 0 h 13003185"/>
              <a:gd name="connsiteX3" fmla="*/ 12925768 w 12925781"/>
              <a:gd name="connsiteY3" fmla="*/ 0 h 13003185"/>
              <a:gd name="connsiteX4" fmla="*/ 12925781 w 12925781"/>
              <a:gd name="connsiteY4" fmla="*/ 11289792 h 13003185"/>
              <a:gd name="connsiteX0" fmla="*/ 12948171 w 12948171"/>
              <a:gd name="connsiteY0" fmla="*/ 13015251 h 13015251"/>
              <a:gd name="connsiteX1" fmla="*/ 0 w 12948171"/>
              <a:gd name="connsiteY1" fmla="*/ 13003185 h 13015251"/>
              <a:gd name="connsiteX2" fmla="*/ 7480918 w 12948171"/>
              <a:gd name="connsiteY2" fmla="*/ 0 h 13015251"/>
              <a:gd name="connsiteX3" fmla="*/ 12925768 w 12948171"/>
              <a:gd name="connsiteY3" fmla="*/ 0 h 13015251"/>
              <a:gd name="connsiteX4" fmla="*/ 12948171 w 12948171"/>
              <a:gd name="connsiteY4" fmla="*/ 13015251 h 13015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48171" h="13015251" extrusionOk="0">
                <a:moveTo>
                  <a:pt x="12948171" y="13015251"/>
                </a:moveTo>
                <a:lnTo>
                  <a:pt x="0" y="13003185"/>
                </a:lnTo>
                <a:lnTo>
                  <a:pt x="7480918" y="0"/>
                </a:lnTo>
                <a:lnTo>
                  <a:pt x="12925768" y="0"/>
                </a:lnTo>
                <a:cubicBezTo>
                  <a:pt x="12925772" y="3763264"/>
                  <a:pt x="12948167" y="9251987"/>
                  <a:pt x="12948171" y="13015251"/>
                </a:cubicBez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sz="1100"/>
          </a:p>
        </p:txBody>
      </p:sp>
      <p:sp>
        <p:nvSpPr>
          <p:cNvPr id="26" name="Прямоугольник 25"/>
          <p:cNvSpPr/>
          <p:nvPr userDrawn="1"/>
        </p:nvSpPr>
        <p:spPr bwMode="auto">
          <a:xfrm>
            <a:off x="6758154" y="3759199"/>
            <a:ext cx="5433847" cy="21824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7200900" y="4922167"/>
            <a:ext cx="3225533" cy="559023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Фамилия Имя Отчество</a:t>
            </a:r>
            <a:endParaRPr/>
          </a:p>
        </p:txBody>
      </p:sp>
      <p:sp>
        <p:nvSpPr>
          <p:cNvPr id="43" name="Текст 42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7200900" y="5561299"/>
            <a:ext cx="4121150" cy="380399"/>
          </a:xfrm>
        </p:spPr>
        <p:txBody>
          <a:bodyPr>
            <a:normAutofit/>
          </a:bodyPr>
          <a:lstStyle>
            <a:lvl1pPr marL="0" indent="0">
              <a:buNone/>
              <a:defRPr sz="1000" i="1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ru-RU"/>
              <a:t>Должность / статус</a:t>
            </a:r>
            <a:endParaRPr/>
          </a:p>
        </p:txBody>
      </p:sp>
      <p:sp>
        <p:nvSpPr>
          <p:cNvPr id="65" name="Заголовок 64"/>
          <p:cNvSpPr>
            <a:spLocks noGrp="1"/>
          </p:cNvSpPr>
          <p:nvPr>
            <p:ph type="title" hasCustomPrompt="1"/>
          </p:nvPr>
        </p:nvSpPr>
        <p:spPr bwMode="auto">
          <a:xfrm>
            <a:off x="355089" y="1189182"/>
            <a:ext cx="7746876" cy="990409"/>
          </a:xfrm>
          <a:prstGeom prst="rect">
            <a:avLst/>
          </a:prstGeom>
        </p:spPr>
        <p:txBody>
          <a:bodyPr/>
          <a:lstStyle>
            <a:lvl1pPr>
              <a:defRPr sz="3600" spc="-150"/>
            </a:lvl1pPr>
          </a:lstStyle>
          <a:p>
            <a:pPr>
              <a:defRPr/>
            </a:pPr>
            <a:r>
              <a:rPr lang="ru-RU"/>
              <a:t>НАЗВАНИЕ </a:t>
            </a:r>
            <a:br>
              <a:rPr lang="ru-RU"/>
            </a:br>
            <a:r>
              <a:rPr lang="ru-RU"/>
              <a:t>ПРЕЗЕНТАЦИИ</a:t>
            </a:r>
            <a:endParaRPr/>
          </a:p>
        </p:txBody>
      </p:sp>
      <p:sp>
        <p:nvSpPr>
          <p:cNvPr id="74" name="Текст 4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934325" y="6262132"/>
            <a:ext cx="4121150" cy="330484"/>
          </a:xfrm>
        </p:spPr>
        <p:txBody>
          <a:bodyPr>
            <a:normAutofit/>
          </a:bodyPr>
          <a:lstStyle>
            <a:lvl1pPr marL="0" indent="0" algn="r">
              <a:buNone/>
              <a:defRPr sz="1500" i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(дд.мм.гг.)</a:t>
            </a:r>
            <a:endParaRPr/>
          </a:p>
        </p:txBody>
      </p:sp>
      <p:pic>
        <p:nvPicPr>
          <p:cNvPr id="97" name="Рисунок 96"/>
          <p:cNvPicPr>
            <a:picLocks noChangeAspect="1"/>
          </p:cNvPicPr>
          <p:nvPr userDrawn="1"/>
        </p:nvPicPr>
        <p:blipFill>
          <a:blip r:embed="rId2"/>
          <a:srcRect r="2709"/>
          <a:stretch/>
        </p:blipFill>
        <p:spPr bwMode="auto">
          <a:xfrm flipV="1">
            <a:off x="10381655" y="3624856"/>
            <a:ext cx="1810344" cy="231684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871ACEC7-D4E7-49A9-99C7-C28166B54012}" type="slidenum">
              <a:rPr lang="ru-RU"/>
              <a:t>‹#›</a:t>
            </a:fld>
            <a:endParaRPr lang="ru-RU"/>
          </a:p>
        </p:txBody>
      </p:sp>
      <p:pic>
        <p:nvPicPr>
          <p:cNvPr id="4" name="Рисунок 3" descr="Изображение выглядит как текст, Графика, логотип, Шрифт&#10;&#10;Контент, сгенерированный ИИ, может содержать ошибки.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707023" y="467574"/>
            <a:ext cx="976977" cy="89745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0" y="3759200"/>
            <a:ext cx="6758154" cy="2182496"/>
          </a:xfrm>
          <a:prstGeom prst="rect">
            <a:avLst/>
          </a:prstGeom>
        </p:spPr>
      </p:pic>
      <p:sp>
        <p:nvSpPr>
          <p:cNvPr id="13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55089" y="2179591"/>
            <a:ext cx="4140200" cy="502920"/>
          </a:xfrm>
        </p:spPr>
        <p:txBody>
          <a:bodyPr>
            <a:normAutofit/>
          </a:bodyPr>
          <a:lstStyle>
            <a:lvl1pPr marL="228600" indent="-228600">
              <a:defRPr sz="2400"/>
            </a:lvl1pPr>
          </a:lstStyle>
          <a:p>
            <a:pPr marL="0" indent="0">
              <a:buNone/>
              <a:defRPr/>
            </a:pPr>
            <a:r>
              <a:rPr lang="ru-RU"/>
              <a:t>Подзаголовок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44686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Показател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auto">
          <a:xfrm>
            <a:off x="0" y="3533775"/>
            <a:ext cx="12192000" cy="3324225"/>
          </a:xfrm>
          <a:prstGeom prst="rect">
            <a:avLst/>
          </a:prstGeom>
          <a:solidFill>
            <a:srgbClr val="C7D8F4"/>
          </a:solidFill>
        </p:spPr>
        <p:txBody>
          <a:bodyPr vert="horz" lIns="91440" tIns="45720" rIns="91440" bIns="45720" rtlCol="0">
            <a:norm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endParaRPr lang="ru-RU" sz="2000">
              <a:solidFill>
                <a:schemeClr val="bg1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rgbClr val="070D6B"/>
                </a:solidFill>
              </a:defRPr>
            </a:lvl1pPr>
          </a:lstStyle>
          <a:p>
            <a:pPr>
              <a:defRPr/>
            </a:pPr>
            <a:fld id="{871ACEC7-D4E7-49A9-99C7-C28166B54012}" type="slidenum">
              <a:rPr lang="ru-RU"/>
              <a:t>‹#›</a:t>
            </a:fld>
            <a:endParaRPr lang="ru-RU">
              <a:solidFill>
                <a:srgbClr val="070D6B"/>
              </a:solidFill>
            </a:endParaRPr>
          </a:p>
        </p:txBody>
      </p:sp>
      <p:sp>
        <p:nvSpPr>
          <p:cNvPr id="9" name="Рисунок 24"/>
          <p:cNvSpPr>
            <a:spLocks noGrp="1"/>
          </p:cNvSpPr>
          <p:nvPr>
            <p:ph type="pic" sz="quarter" idx="15"/>
          </p:nvPr>
        </p:nvSpPr>
        <p:spPr bwMode="auto">
          <a:xfrm>
            <a:off x="334963" y="782890"/>
            <a:ext cx="1405731" cy="64293"/>
          </a:xfrm>
          <a:prstGeom prst="rect">
            <a:avLst/>
          </a:prstGeom>
          <a:blipFill>
            <a:blip r:embed="rId2"/>
            <a:srcRect l="3376" t="-6859"/>
            <a:stretch/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 bwMode="auto">
          <a:xfrm>
            <a:off x="334962" y="1681777"/>
            <a:ext cx="9418637" cy="159609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ru-RU"/>
              <a:t>Введите Ваш текст</a:t>
            </a:r>
            <a:endParaRPr/>
          </a:p>
        </p:txBody>
      </p:sp>
      <p:sp>
        <p:nvSpPr>
          <p:cNvPr id="10" name="Объект 2"/>
          <p:cNvSpPr>
            <a:spLocks noGrp="1"/>
          </p:cNvSpPr>
          <p:nvPr>
            <p:ph idx="17" hasCustomPrompt="1"/>
          </p:nvPr>
        </p:nvSpPr>
        <p:spPr bwMode="auto">
          <a:xfrm>
            <a:off x="334963" y="1044566"/>
            <a:ext cx="9418637" cy="465919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3" name="Объект 2"/>
          <p:cNvSpPr>
            <a:spLocks noGrp="1"/>
          </p:cNvSpPr>
          <p:nvPr>
            <p:ph idx="18" hasCustomPrompt="1"/>
          </p:nvPr>
        </p:nvSpPr>
        <p:spPr bwMode="auto">
          <a:xfrm>
            <a:off x="334961" y="4479012"/>
            <a:ext cx="9418637" cy="159609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70D6B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ru-RU"/>
              <a:t>Введите Ваш текст</a:t>
            </a:r>
            <a:endParaRPr/>
          </a:p>
        </p:txBody>
      </p:sp>
      <p:sp>
        <p:nvSpPr>
          <p:cNvPr id="14" name="Объект 2"/>
          <p:cNvSpPr>
            <a:spLocks noGrp="1"/>
          </p:cNvSpPr>
          <p:nvPr>
            <p:ph idx="19" hasCustomPrompt="1"/>
          </p:nvPr>
        </p:nvSpPr>
        <p:spPr bwMode="auto">
          <a:xfrm>
            <a:off x="334962" y="3841801"/>
            <a:ext cx="9418637" cy="465919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070D6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6" name="Заголовок 12"/>
          <p:cNvSpPr>
            <a:spLocks noGrp="1"/>
          </p:cNvSpPr>
          <p:nvPr>
            <p:ph type="title" hasCustomPrompt="1"/>
          </p:nvPr>
        </p:nvSpPr>
        <p:spPr bwMode="auto">
          <a:xfrm>
            <a:off x="223546" y="330931"/>
            <a:ext cx="4381817" cy="365126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1026631" y="330931"/>
            <a:ext cx="833411" cy="26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577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оказател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1ACEC7-D4E7-49A9-99C7-C28166B54012}" type="slidenum">
              <a:rPr lang="ru-RU"/>
              <a:t>‹#›</a:t>
            </a:fld>
            <a:endParaRPr lang="ru-RU"/>
          </a:p>
        </p:txBody>
      </p:sp>
      <p:sp>
        <p:nvSpPr>
          <p:cNvPr id="9" name="Рисунок 24"/>
          <p:cNvSpPr>
            <a:spLocks noGrp="1"/>
          </p:cNvSpPr>
          <p:nvPr>
            <p:ph type="pic" sz="quarter" idx="15"/>
          </p:nvPr>
        </p:nvSpPr>
        <p:spPr bwMode="auto">
          <a:xfrm>
            <a:off x="334963" y="782890"/>
            <a:ext cx="1405731" cy="64293"/>
          </a:xfrm>
          <a:prstGeom prst="rect">
            <a:avLst/>
          </a:prstGeom>
          <a:blipFill>
            <a:blip r:embed="rId2"/>
            <a:srcRect l="3376" t="-6859"/>
            <a:stretch/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Объект 13"/>
          <p:cNvSpPr>
            <a:spLocks noGrp="1"/>
          </p:cNvSpPr>
          <p:nvPr>
            <p:ph sz="quarter" idx="22" hasCustomPrompt="1"/>
          </p:nvPr>
        </p:nvSpPr>
        <p:spPr bwMode="auto">
          <a:xfrm>
            <a:off x="317960" y="1038225"/>
            <a:ext cx="11650493" cy="5132135"/>
          </a:xfrm>
          <a:prstGeom prst="roundRect">
            <a:avLst>
              <a:gd name="adj" fmla="val 1209"/>
            </a:avLst>
          </a:prstGeom>
          <a:solidFill>
            <a:schemeClr val="bg1">
              <a:lumMod val="95000"/>
            </a:schemeClr>
          </a:solidFill>
          <a:ln w="6350"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1800">
                <a:noFill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quarter" idx="23" hasCustomPrompt="1"/>
          </p:nvPr>
        </p:nvSpPr>
        <p:spPr bwMode="auto">
          <a:xfrm>
            <a:off x="514350" y="1266825"/>
            <a:ext cx="11258550" cy="1028700"/>
          </a:xfrm>
          <a:prstGeom prst="roundRect">
            <a:avLst>
              <a:gd name="adj" fmla="val 13889"/>
            </a:avLst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r>
              <a:rPr lang="ru-RU"/>
              <a:t>Текс</a:t>
            </a:r>
            <a:endParaRPr/>
          </a:p>
        </p:txBody>
      </p:sp>
      <p:sp>
        <p:nvSpPr>
          <p:cNvPr id="18" name="Объект 3"/>
          <p:cNvSpPr>
            <a:spLocks noGrp="1"/>
          </p:cNvSpPr>
          <p:nvPr>
            <p:ph sz="quarter" idx="24"/>
          </p:nvPr>
        </p:nvSpPr>
        <p:spPr bwMode="auto">
          <a:xfrm>
            <a:off x="514350" y="2447925"/>
            <a:ext cx="11258550" cy="1028700"/>
          </a:xfrm>
          <a:prstGeom prst="roundRect">
            <a:avLst>
              <a:gd name="adj" fmla="val 13889"/>
            </a:avLst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9" name="Объект 3"/>
          <p:cNvSpPr>
            <a:spLocks noGrp="1"/>
          </p:cNvSpPr>
          <p:nvPr>
            <p:ph sz="quarter" idx="25"/>
          </p:nvPr>
        </p:nvSpPr>
        <p:spPr bwMode="auto">
          <a:xfrm>
            <a:off x="514350" y="3629025"/>
            <a:ext cx="11258550" cy="1028700"/>
          </a:xfrm>
          <a:prstGeom prst="roundRect">
            <a:avLst>
              <a:gd name="adj" fmla="val 13889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22" name="Объект 3"/>
          <p:cNvSpPr>
            <a:spLocks noGrp="1"/>
          </p:cNvSpPr>
          <p:nvPr>
            <p:ph sz="quarter" idx="26"/>
          </p:nvPr>
        </p:nvSpPr>
        <p:spPr bwMode="auto">
          <a:xfrm>
            <a:off x="514350" y="4810125"/>
            <a:ext cx="11258550" cy="1028700"/>
          </a:xfrm>
          <a:prstGeom prst="roundRect">
            <a:avLst>
              <a:gd name="adj" fmla="val 13889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23" name="Объект 2"/>
          <p:cNvSpPr>
            <a:spLocks noGrp="1"/>
          </p:cNvSpPr>
          <p:nvPr>
            <p:ph idx="1" hasCustomPrompt="1"/>
          </p:nvPr>
        </p:nvSpPr>
        <p:spPr bwMode="auto">
          <a:xfrm>
            <a:off x="1819275" y="1341136"/>
            <a:ext cx="9858375" cy="8762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ru-RU"/>
              <a:t>Введите Ваш текст</a:t>
            </a:r>
            <a:endParaRPr/>
          </a:p>
        </p:txBody>
      </p:sp>
      <p:sp>
        <p:nvSpPr>
          <p:cNvPr id="24" name="Объект 2"/>
          <p:cNvSpPr>
            <a:spLocks noGrp="1"/>
          </p:cNvSpPr>
          <p:nvPr>
            <p:ph idx="28" hasCustomPrompt="1"/>
          </p:nvPr>
        </p:nvSpPr>
        <p:spPr bwMode="auto">
          <a:xfrm>
            <a:off x="1819275" y="2520925"/>
            <a:ext cx="9858375" cy="8762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ru-RU"/>
              <a:t>Введите Ваш текст</a:t>
            </a:r>
            <a:endParaRPr/>
          </a:p>
        </p:txBody>
      </p:sp>
      <p:sp>
        <p:nvSpPr>
          <p:cNvPr id="26" name="Объект 2"/>
          <p:cNvSpPr>
            <a:spLocks noGrp="1"/>
          </p:cNvSpPr>
          <p:nvPr>
            <p:ph idx="30" hasCustomPrompt="1"/>
          </p:nvPr>
        </p:nvSpPr>
        <p:spPr bwMode="auto">
          <a:xfrm>
            <a:off x="1819275" y="3700714"/>
            <a:ext cx="9858375" cy="8762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ru-RU"/>
              <a:t>Введите Ваш текст</a:t>
            </a:r>
            <a:endParaRPr/>
          </a:p>
        </p:txBody>
      </p:sp>
      <p:sp>
        <p:nvSpPr>
          <p:cNvPr id="28" name="Объект 2"/>
          <p:cNvSpPr>
            <a:spLocks noGrp="1"/>
          </p:cNvSpPr>
          <p:nvPr>
            <p:ph idx="32" hasCustomPrompt="1"/>
          </p:nvPr>
        </p:nvSpPr>
        <p:spPr bwMode="auto">
          <a:xfrm>
            <a:off x="1819275" y="4880503"/>
            <a:ext cx="9858375" cy="8762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ru-RU"/>
              <a:t>Введите Ваш текст</a:t>
            </a:r>
            <a:endParaRPr/>
          </a:p>
        </p:txBody>
      </p:sp>
      <p:sp>
        <p:nvSpPr>
          <p:cNvPr id="33" name="Объект 2"/>
          <p:cNvSpPr>
            <a:spLocks noGrp="1"/>
          </p:cNvSpPr>
          <p:nvPr>
            <p:ph sz="quarter" idx="16"/>
          </p:nvPr>
        </p:nvSpPr>
        <p:spPr bwMode="auto">
          <a:xfrm>
            <a:off x="609616" y="1334595"/>
            <a:ext cx="935138" cy="882841"/>
          </a:xfrm>
          <a:prstGeom prst="roundRect">
            <a:avLst>
              <a:gd name="adj" fmla="val 2934"/>
            </a:avLst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34" name="Объект 2"/>
          <p:cNvSpPr>
            <a:spLocks noGrp="1"/>
          </p:cNvSpPr>
          <p:nvPr>
            <p:ph sz="quarter" idx="33"/>
          </p:nvPr>
        </p:nvSpPr>
        <p:spPr bwMode="auto">
          <a:xfrm>
            <a:off x="609616" y="2520925"/>
            <a:ext cx="935138" cy="882841"/>
          </a:xfrm>
          <a:prstGeom prst="roundRect">
            <a:avLst>
              <a:gd name="adj" fmla="val 2934"/>
            </a:avLst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35" name="Объект 2"/>
          <p:cNvSpPr>
            <a:spLocks noGrp="1"/>
          </p:cNvSpPr>
          <p:nvPr>
            <p:ph sz="quarter" idx="34"/>
          </p:nvPr>
        </p:nvSpPr>
        <p:spPr bwMode="auto">
          <a:xfrm>
            <a:off x="609616" y="3707255"/>
            <a:ext cx="935138" cy="882841"/>
          </a:xfrm>
          <a:prstGeom prst="roundRect">
            <a:avLst>
              <a:gd name="adj" fmla="val 2934"/>
            </a:avLst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36" name="Объект 2"/>
          <p:cNvSpPr>
            <a:spLocks noGrp="1"/>
          </p:cNvSpPr>
          <p:nvPr>
            <p:ph sz="quarter" idx="35"/>
          </p:nvPr>
        </p:nvSpPr>
        <p:spPr bwMode="auto">
          <a:xfrm>
            <a:off x="609616" y="4893585"/>
            <a:ext cx="935138" cy="882841"/>
          </a:xfrm>
          <a:prstGeom prst="roundRect">
            <a:avLst>
              <a:gd name="adj" fmla="val 2934"/>
            </a:avLst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21" name="Заголовок 12"/>
          <p:cNvSpPr>
            <a:spLocks noGrp="1"/>
          </p:cNvSpPr>
          <p:nvPr>
            <p:ph type="title" hasCustomPrompt="1"/>
          </p:nvPr>
        </p:nvSpPr>
        <p:spPr bwMode="auto">
          <a:xfrm>
            <a:off x="223546" y="330931"/>
            <a:ext cx="4381817" cy="365126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pic>
        <p:nvPicPr>
          <p:cNvPr id="25" name="Рисунок 24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1026631" y="330931"/>
            <a:ext cx="833411" cy="26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08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Заключ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rcRect t="68559"/>
          <a:stretch/>
        </p:blipFill>
        <p:spPr bwMode="auto">
          <a:xfrm flipV="1">
            <a:off x="516123" y="6464709"/>
            <a:ext cx="11513951" cy="137637"/>
          </a:xfrm>
          <a:prstGeom prst="roundRect">
            <a:avLst>
              <a:gd name="adj" fmla="val 50000"/>
            </a:avLst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/>
          <a:srcRect t="-1" r="1516" b="120"/>
          <a:stretch/>
        </p:blipFill>
        <p:spPr bwMode="auto">
          <a:xfrm>
            <a:off x="8483739" y="0"/>
            <a:ext cx="3708261" cy="4686300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 bwMode="auto">
          <a:xfrm>
            <a:off x="704919" y="2695452"/>
            <a:ext cx="5743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200">
                <a:latin typeface="+mj-lt"/>
              </a:rPr>
              <a:t>Спасибо за внимание!</a:t>
            </a:r>
            <a:endParaRPr/>
          </a:p>
        </p:txBody>
      </p:sp>
      <p:sp>
        <p:nvSpPr>
          <p:cNvPr id="12" name="TextBox 11"/>
          <p:cNvSpPr txBox="1"/>
          <p:nvPr userDrawn="1"/>
        </p:nvSpPr>
        <p:spPr bwMode="auto">
          <a:xfrm>
            <a:off x="404997" y="6041198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>
                <a:latin typeface="Montserrat Medium"/>
              </a:rPr>
              <a:t>www.sfedu.ru</a:t>
            </a:r>
            <a:endParaRPr lang="ru-RU">
              <a:latin typeface="Montserrat Medium"/>
            </a:endParaRPr>
          </a:p>
        </p:txBody>
      </p:sp>
      <p:sp>
        <p:nvSpPr>
          <p:cNvPr id="1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7168715" y="5456056"/>
            <a:ext cx="3225533" cy="559023"/>
          </a:xfrm>
        </p:spPr>
        <p:txBody>
          <a:bodyPr>
            <a:normAutofit/>
          </a:bodyPr>
          <a:lstStyle>
            <a:lvl1pPr marL="0" indent="0" algn="r">
              <a:spcBef>
                <a:spcPts val="60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Фамилия Имя</a:t>
            </a:r>
            <a:endParaRPr lang="en-US"/>
          </a:p>
          <a:p>
            <a:pPr>
              <a:defRPr/>
            </a:pPr>
            <a:r>
              <a:rPr lang="ru-RU"/>
              <a:t>Отчество</a:t>
            </a:r>
            <a:endParaRPr/>
          </a:p>
        </p:txBody>
      </p:sp>
      <p:sp>
        <p:nvSpPr>
          <p:cNvPr id="16" name="Текст 4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168714" y="6080371"/>
            <a:ext cx="3225533" cy="253754"/>
          </a:xfrm>
        </p:spPr>
        <p:txBody>
          <a:bodyPr>
            <a:noAutofit/>
          </a:bodyPr>
          <a:lstStyle>
            <a:lvl1pPr marL="0" indent="0" algn="r">
              <a:buNone/>
              <a:defRPr sz="1100" i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ru-RU"/>
              <a:t>Должность</a:t>
            </a:r>
            <a:endParaRPr/>
          </a:p>
        </p:txBody>
      </p:sp>
      <p:sp>
        <p:nvSpPr>
          <p:cNvPr id="13" name="Рисунок 13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10496550" y="4876800"/>
            <a:ext cx="1457325" cy="1457325"/>
          </a:xfrm>
          <a:prstGeom prst="roundRect">
            <a:avLst>
              <a:gd name="adj" fmla="val 817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500"/>
            </a:lvl1pPr>
          </a:lstStyle>
          <a:p>
            <a:pPr>
              <a:defRPr/>
            </a:pPr>
            <a:r>
              <a:rPr lang="ru-RU"/>
              <a:t>Место для Вашего </a:t>
            </a:r>
            <a:r>
              <a:rPr lang="en-US"/>
              <a:t>QR</a:t>
            </a:r>
            <a:endParaRPr lang="ru-RU"/>
          </a:p>
        </p:txBody>
      </p:sp>
      <p:pic>
        <p:nvPicPr>
          <p:cNvPr id="2" name="Рисунок 1" descr="Изображение выглядит как снимок экрана, Шрифт, Графика, графический дизайн&#10;&#10;Контент, сгенерированный ИИ, может содержать ошибки.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2006026" y="998100"/>
            <a:ext cx="1570646" cy="21022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704919" y="578584"/>
            <a:ext cx="998081" cy="91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007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Блоки и изображ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Объект 3"/>
          <p:cNvSpPr>
            <a:spLocks noGrp="1"/>
          </p:cNvSpPr>
          <p:nvPr>
            <p:ph sz="quarter" idx="43"/>
          </p:nvPr>
        </p:nvSpPr>
        <p:spPr bwMode="auto">
          <a:xfrm>
            <a:off x="514350" y="1200437"/>
            <a:ext cx="5581649" cy="1028700"/>
          </a:xfrm>
          <a:prstGeom prst="roundRect">
            <a:avLst>
              <a:gd name="adj" fmla="val 13889"/>
            </a:avLst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1ACEC7-D4E7-49A9-99C7-C28166B54012}" type="slidenum">
              <a:rPr lang="ru-RU"/>
              <a:t>‹#›</a:t>
            </a:fld>
            <a:endParaRPr lang="ru-RU"/>
          </a:p>
        </p:txBody>
      </p:sp>
      <p:sp>
        <p:nvSpPr>
          <p:cNvPr id="9" name="Рисунок 24"/>
          <p:cNvSpPr>
            <a:spLocks noGrp="1"/>
          </p:cNvSpPr>
          <p:nvPr>
            <p:ph type="pic" sz="quarter" idx="15"/>
          </p:nvPr>
        </p:nvSpPr>
        <p:spPr bwMode="auto">
          <a:xfrm>
            <a:off x="334963" y="782890"/>
            <a:ext cx="1405731" cy="64293"/>
          </a:xfrm>
          <a:prstGeom prst="rect">
            <a:avLst/>
          </a:prstGeom>
          <a:blipFill>
            <a:blip r:embed="rId2"/>
            <a:srcRect l="3376" t="-6859"/>
            <a:stretch/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" name="Объект 3"/>
          <p:cNvSpPr>
            <a:spLocks noGrp="1"/>
          </p:cNvSpPr>
          <p:nvPr>
            <p:ph sz="quarter" idx="24"/>
          </p:nvPr>
        </p:nvSpPr>
        <p:spPr bwMode="auto">
          <a:xfrm>
            <a:off x="514350" y="2447925"/>
            <a:ext cx="5581649" cy="1028700"/>
          </a:xfrm>
          <a:prstGeom prst="roundRect">
            <a:avLst>
              <a:gd name="adj" fmla="val 13889"/>
            </a:avLst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22" name="Объект 3"/>
          <p:cNvSpPr>
            <a:spLocks noGrp="1"/>
          </p:cNvSpPr>
          <p:nvPr>
            <p:ph sz="quarter" idx="26"/>
          </p:nvPr>
        </p:nvSpPr>
        <p:spPr bwMode="auto">
          <a:xfrm>
            <a:off x="514350" y="4810125"/>
            <a:ext cx="5581649" cy="1028700"/>
          </a:xfrm>
          <a:prstGeom prst="roundRect">
            <a:avLst>
              <a:gd name="adj" fmla="val 13889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23" name="Объект 2"/>
          <p:cNvSpPr>
            <a:spLocks noGrp="1"/>
          </p:cNvSpPr>
          <p:nvPr>
            <p:ph idx="1" hasCustomPrompt="1"/>
          </p:nvPr>
        </p:nvSpPr>
        <p:spPr bwMode="auto">
          <a:xfrm>
            <a:off x="1819275" y="1264875"/>
            <a:ext cx="4162425" cy="8762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ysClr val="windowText" lastClr="00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ru-RU"/>
              <a:t>Введите Ваш текст</a:t>
            </a:r>
            <a:endParaRPr/>
          </a:p>
        </p:txBody>
      </p:sp>
      <p:sp>
        <p:nvSpPr>
          <p:cNvPr id="24" name="Объект 2"/>
          <p:cNvSpPr>
            <a:spLocks noGrp="1"/>
          </p:cNvSpPr>
          <p:nvPr>
            <p:ph idx="28" hasCustomPrompt="1"/>
          </p:nvPr>
        </p:nvSpPr>
        <p:spPr bwMode="auto">
          <a:xfrm>
            <a:off x="1819275" y="2520925"/>
            <a:ext cx="4162425" cy="8762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ru-RU"/>
              <a:t>Введите Ваш текст</a:t>
            </a:r>
            <a:endParaRPr/>
          </a:p>
        </p:txBody>
      </p:sp>
      <p:sp>
        <p:nvSpPr>
          <p:cNvPr id="28" name="Объект 2"/>
          <p:cNvSpPr>
            <a:spLocks noGrp="1"/>
          </p:cNvSpPr>
          <p:nvPr>
            <p:ph idx="32" hasCustomPrompt="1"/>
          </p:nvPr>
        </p:nvSpPr>
        <p:spPr bwMode="auto">
          <a:xfrm>
            <a:off x="1819275" y="4880503"/>
            <a:ext cx="4162425" cy="8762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ru-RU"/>
              <a:t>Введите Ваш текст</a:t>
            </a:r>
            <a:endParaRPr/>
          </a:p>
        </p:txBody>
      </p:sp>
      <p:sp>
        <p:nvSpPr>
          <p:cNvPr id="33" name="Объект 2"/>
          <p:cNvSpPr>
            <a:spLocks noGrp="1"/>
          </p:cNvSpPr>
          <p:nvPr>
            <p:ph sz="quarter" idx="16"/>
          </p:nvPr>
        </p:nvSpPr>
        <p:spPr bwMode="auto">
          <a:xfrm>
            <a:off x="609616" y="1258334"/>
            <a:ext cx="935138" cy="882841"/>
          </a:xfrm>
          <a:prstGeom prst="roundRect">
            <a:avLst>
              <a:gd name="adj" fmla="val 2934"/>
            </a:avLst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34" name="Объект 2"/>
          <p:cNvSpPr>
            <a:spLocks noGrp="1"/>
          </p:cNvSpPr>
          <p:nvPr>
            <p:ph sz="quarter" idx="33"/>
          </p:nvPr>
        </p:nvSpPr>
        <p:spPr bwMode="auto">
          <a:xfrm>
            <a:off x="609616" y="2520925"/>
            <a:ext cx="935138" cy="882841"/>
          </a:xfrm>
          <a:prstGeom prst="roundRect">
            <a:avLst>
              <a:gd name="adj" fmla="val 2934"/>
            </a:avLst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36" name="Объект 2"/>
          <p:cNvSpPr>
            <a:spLocks noGrp="1"/>
          </p:cNvSpPr>
          <p:nvPr>
            <p:ph sz="quarter" idx="35"/>
          </p:nvPr>
        </p:nvSpPr>
        <p:spPr bwMode="auto">
          <a:xfrm>
            <a:off x="609616" y="4893585"/>
            <a:ext cx="935138" cy="882841"/>
          </a:xfrm>
          <a:prstGeom prst="roundRect">
            <a:avLst>
              <a:gd name="adj" fmla="val 2934"/>
            </a:avLst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41" hasCustomPrompt="1"/>
          </p:nvPr>
        </p:nvSpPr>
        <p:spPr bwMode="auto">
          <a:xfrm>
            <a:off x="7654795" y="2151687"/>
            <a:ext cx="3273950" cy="3273949"/>
          </a:xfrm>
          <a:prstGeom prst="ellipse">
            <a:avLst/>
          </a:prstGeom>
          <a:effectLst>
            <a:outerShdw blurRad="215900" dist="304800" dir="5400000" sx="90000" sy="-19000" rotWithShape="0">
              <a:prstClr val="black">
                <a:alpha val="9000"/>
              </a:prstClr>
            </a:outerShdw>
          </a:effectLst>
        </p:spPr>
        <p:txBody>
          <a:bodyPr/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7" name="Объект 2"/>
          <p:cNvSpPr>
            <a:spLocks noGrp="1"/>
          </p:cNvSpPr>
          <p:nvPr>
            <p:ph sz="quarter" idx="21"/>
          </p:nvPr>
        </p:nvSpPr>
        <p:spPr bwMode="auto">
          <a:xfrm>
            <a:off x="7099833" y="1319747"/>
            <a:ext cx="1271789" cy="1268877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30" name="Объект 2"/>
          <p:cNvSpPr>
            <a:spLocks noGrp="1"/>
          </p:cNvSpPr>
          <p:nvPr>
            <p:ph sz="quarter" idx="39"/>
          </p:nvPr>
        </p:nvSpPr>
        <p:spPr bwMode="auto">
          <a:xfrm>
            <a:off x="10735689" y="2024822"/>
            <a:ext cx="386112" cy="385228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31" name="Объект 2"/>
          <p:cNvSpPr>
            <a:spLocks noGrp="1"/>
          </p:cNvSpPr>
          <p:nvPr>
            <p:ph sz="quarter" idx="40"/>
          </p:nvPr>
        </p:nvSpPr>
        <p:spPr bwMode="auto">
          <a:xfrm>
            <a:off x="10117789" y="4678028"/>
            <a:ext cx="876480" cy="874473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29" name="Объект 3"/>
          <p:cNvSpPr>
            <a:spLocks noGrp="1"/>
          </p:cNvSpPr>
          <p:nvPr>
            <p:ph sz="quarter" idx="44"/>
          </p:nvPr>
        </p:nvSpPr>
        <p:spPr bwMode="auto">
          <a:xfrm>
            <a:off x="510112" y="3629025"/>
            <a:ext cx="5581649" cy="1028700"/>
          </a:xfrm>
          <a:prstGeom prst="roundRect">
            <a:avLst>
              <a:gd name="adj" fmla="val 13889"/>
            </a:avLst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32" name="Объект 2"/>
          <p:cNvSpPr>
            <a:spLocks noGrp="1"/>
          </p:cNvSpPr>
          <p:nvPr>
            <p:ph idx="45" hasCustomPrompt="1"/>
          </p:nvPr>
        </p:nvSpPr>
        <p:spPr bwMode="auto">
          <a:xfrm>
            <a:off x="1815037" y="3693463"/>
            <a:ext cx="4162425" cy="8762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ysClr val="windowText" lastClr="00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ru-RU"/>
              <a:t>Введите Ваш текст</a:t>
            </a:r>
            <a:endParaRPr/>
          </a:p>
        </p:txBody>
      </p:sp>
      <p:sp>
        <p:nvSpPr>
          <p:cNvPr id="35" name="Объект 2"/>
          <p:cNvSpPr>
            <a:spLocks noGrp="1"/>
          </p:cNvSpPr>
          <p:nvPr>
            <p:ph sz="quarter" idx="46"/>
          </p:nvPr>
        </p:nvSpPr>
        <p:spPr bwMode="auto">
          <a:xfrm>
            <a:off x="605378" y="3686922"/>
            <a:ext cx="935138" cy="882841"/>
          </a:xfrm>
          <a:prstGeom prst="roundRect">
            <a:avLst>
              <a:gd name="adj" fmla="val 2934"/>
            </a:avLst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25" name="Заголовок 12"/>
          <p:cNvSpPr>
            <a:spLocks noGrp="1"/>
          </p:cNvSpPr>
          <p:nvPr>
            <p:ph type="title" hasCustomPrompt="1"/>
          </p:nvPr>
        </p:nvSpPr>
        <p:spPr bwMode="auto">
          <a:xfrm>
            <a:off x="223546" y="330931"/>
            <a:ext cx="4381817" cy="365126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pic>
        <p:nvPicPr>
          <p:cNvPr id="37" name="Рисунок 3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1026631" y="330931"/>
            <a:ext cx="833411" cy="26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9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445B-DB11-412A-BAD8-7C5A7CB36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70B2A5-598B-4C61-9345-E94512359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69A992-9194-4252-A11C-8E80279DA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70D14-3F20-4D0F-9AE9-24E0A34FCF9E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BC6BE-16C1-4F08-8B41-6FB64D25C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8F6898-9CDF-451B-8411-267EE7BAB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CEBAB-E0B8-4310-BE3D-3338045B1C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12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 bwMode="auto">
          <a:xfrm>
            <a:off x="7066676" y="3898709"/>
            <a:ext cx="3225533" cy="159607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400" dirty="0"/>
              <a:t>Кондрашкин Никита</a:t>
            </a:r>
          </a:p>
          <a:p>
            <a:pPr>
              <a:defRPr/>
            </a:pPr>
            <a:r>
              <a:rPr lang="ru-RU" sz="2400" dirty="0"/>
              <a:t>Карпенко Марк</a:t>
            </a:r>
          </a:p>
          <a:p>
            <a:pPr>
              <a:defRPr/>
            </a:pPr>
            <a:r>
              <a:rPr lang="ru-RU" sz="2400" dirty="0"/>
              <a:t>Васильцов Ильдар</a:t>
            </a:r>
          </a:p>
          <a:p>
            <a:pPr>
              <a:defRPr/>
            </a:pPr>
            <a:endParaRPr sz="2400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1600" dirty="0"/>
              <a:t>Студенты </a:t>
            </a:r>
            <a:r>
              <a:rPr lang="ru-RU" sz="1600" dirty="0" err="1"/>
              <a:t>ИВТиПТ</a:t>
            </a:r>
            <a:r>
              <a:rPr lang="ru-RU" sz="1600" dirty="0"/>
              <a:t> ЮФУ 3 курс 6 группа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Проект «Предиктивное распределение ресурсов»</a:t>
            </a:r>
            <a:endParaRPr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26.06.2026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1ACEC7-D4E7-49A9-99C7-C28166B54012}" type="slidenum">
              <a:rPr lang="ru-RU"/>
              <a:t>2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 bwMode="auto">
          <a:xfrm>
            <a:off x="1249362" y="1734366"/>
            <a:ext cx="9418637" cy="80620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000" dirty="0"/>
              <a:t>Создание приложения, способного в реальном времени реагировать на активность пользователей сервиса, с помощью сервисов </a:t>
            </a:r>
            <a:r>
              <a:rPr lang="en-US" sz="2000" dirty="0"/>
              <a:t>Apache</a:t>
            </a:r>
            <a:r>
              <a:rPr lang="ru-RU" sz="2000" dirty="0"/>
              <a:t> </a:t>
            </a:r>
            <a:endParaRPr sz="2000" dirty="0"/>
          </a:p>
        </p:txBody>
      </p:sp>
      <p:sp>
        <p:nvSpPr>
          <p:cNvPr id="5" name="Объект 4"/>
          <p:cNvSpPr>
            <a:spLocks noGrp="1"/>
          </p:cNvSpPr>
          <p:nvPr>
            <p:ph idx="17"/>
          </p:nvPr>
        </p:nvSpPr>
        <p:spPr bwMode="auto"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ru-RU" sz="3200" dirty="0"/>
              <a:t>Цель</a:t>
            </a:r>
            <a:endParaRPr sz="3200" dirty="0"/>
          </a:p>
        </p:txBody>
      </p:sp>
      <p:sp>
        <p:nvSpPr>
          <p:cNvPr id="6" name="Объект 5"/>
          <p:cNvSpPr>
            <a:spLocks noGrp="1"/>
          </p:cNvSpPr>
          <p:nvPr>
            <p:ph idx="18"/>
          </p:nvPr>
        </p:nvSpPr>
        <p:spPr bwMode="auto">
          <a:xfrm>
            <a:off x="1249362" y="4479554"/>
            <a:ext cx="9275763" cy="159609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000" dirty="0"/>
              <a:t>Проект решает вопрос управления серверной частью сервиса, испытывающего периоды повышенной и пониженной нагрузки (мессенджеры, стриминговые сервисы, </a:t>
            </a:r>
            <a:r>
              <a:rPr lang="ru-RU" sz="2000"/>
              <a:t>прочее)</a:t>
            </a:r>
            <a:endParaRPr lang="ru-RU" sz="2000" dirty="0"/>
          </a:p>
        </p:txBody>
      </p:sp>
      <p:sp>
        <p:nvSpPr>
          <p:cNvPr id="7" name="Объект 6"/>
          <p:cNvSpPr>
            <a:spLocks noGrp="1"/>
          </p:cNvSpPr>
          <p:nvPr>
            <p:ph idx="19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000" dirty="0"/>
              <a:t>Актуальность</a:t>
            </a:r>
            <a:endParaRPr sz="3000" dirty="0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2800" b="1" dirty="0"/>
              <a:t>Цель и актуальность</a:t>
            </a:r>
            <a:endParaRPr sz="2800" b="1" dirty="0"/>
          </a:p>
        </p:txBody>
      </p:sp>
      <p:pic>
        <p:nvPicPr>
          <p:cNvPr id="10" name="Объект 1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34962" y="782348"/>
            <a:ext cx="1405731" cy="61549"/>
          </a:xfrm>
          <a:prstGeom prst="roundRect">
            <a:avLst>
              <a:gd name="adj" fmla="val 2934"/>
            </a:avLst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34961" y="1654991"/>
            <a:ext cx="780085" cy="78008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7700014-F808-45A1-8F7A-EE4C49BDC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34960" y="4307720"/>
            <a:ext cx="780085" cy="7800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1ACEC7-D4E7-49A9-99C7-C28166B54012}" type="slidenum">
              <a:rPr lang="ru-RU"/>
              <a:t>3</a:t>
            </a:fld>
            <a:endParaRPr lang="ru-RU"/>
          </a:p>
        </p:txBody>
      </p:sp>
      <p:sp>
        <p:nvSpPr>
          <p:cNvPr id="31" name="Прямоугольник: скругленные углы 30"/>
          <p:cNvSpPr/>
          <p:nvPr/>
        </p:nvSpPr>
        <p:spPr bwMode="auto">
          <a:xfrm>
            <a:off x="514350" y="2489028"/>
            <a:ext cx="11291625" cy="1031795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ru-RU" sz="2800" dirty="0">
              <a:noFill/>
            </a:endParaRPr>
          </a:p>
        </p:txBody>
      </p:sp>
      <p:sp>
        <p:nvSpPr>
          <p:cNvPr id="30" name="Прямоугольник: скругленные углы 29"/>
          <p:cNvSpPr/>
          <p:nvPr/>
        </p:nvSpPr>
        <p:spPr bwMode="auto">
          <a:xfrm>
            <a:off x="514350" y="1263730"/>
            <a:ext cx="11291625" cy="1031795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ru-RU" sz="2800">
              <a:noFill/>
            </a:endParaRPr>
          </a:p>
        </p:txBody>
      </p:sp>
      <p:sp>
        <p:nvSpPr>
          <p:cNvPr id="9" name="Объект 8"/>
          <p:cNvSpPr>
            <a:spLocks noGrp="1"/>
          </p:cNvSpPr>
          <p:nvPr>
            <p:ph idx="1"/>
          </p:nvPr>
        </p:nvSpPr>
        <p:spPr bwMode="auto">
          <a:xfrm>
            <a:off x="1819275" y="1305258"/>
            <a:ext cx="10054765" cy="876299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/>
              <a:t>Выдвижение гипотезы и разработка решения</a:t>
            </a:r>
          </a:p>
          <a:p>
            <a:pPr>
              <a:defRPr/>
            </a:pPr>
            <a:r>
              <a:rPr lang="ru-RU" sz="1800" dirty="0"/>
              <a:t>Поиск необходимых инструментов, подготовка </a:t>
            </a:r>
            <a:r>
              <a:rPr lang="ru-RU" sz="1800" dirty="0" err="1"/>
              <a:t>датасета</a:t>
            </a:r>
            <a:endParaRPr sz="1800" dirty="0"/>
          </a:p>
        </p:txBody>
      </p:sp>
      <p:pic>
        <p:nvPicPr>
          <p:cNvPr id="20" name="Объект 19" descr="Значок 1 со сплошной заливкой"/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/>
        </p:blipFill>
        <p:spPr bwMode="auto">
          <a:xfrm>
            <a:off x="635793" y="1335088"/>
            <a:ext cx="882650" cy="882650"/>
          </a:xfrm>
          <a:prstGeom prst="rect">
            <a:avLst/>
          </a:prstGeom>
        </p:spPr>
      </p:pic>
      <p:pic>
        <p:nvPicPr>
          <p:cNvPr id="22" name="Объект 21" descr="Значок со сплошной заливкой"/>
          <p:cNvPicPr>
            <a:picLocks noGrp="1" noChangeAspect="1"/>
          </p:cNvPicPr>
          <p:nvPr>
            <p:ph sz="quarter" idx="33"/>
          </p:nvPr>
        </p:nvPicPr>
        <p:blipFill>
          <a:blip r:embed="rId3"/>
          <a:stretch/>
        </p:blipFill>
        <p:spPr bwMode="auto">
          <a:xfrm>
            <a:off x="635793" y="2520950"/>
            <a:ext cx="882650" cy="882650"/>
          </a:xfrm>
          <a:prstGeom prst="rect">
            <a:avLst/>
          </a:prstGeom>
        </p:spPr>
      </p:pic>
      <p:sp>
        <p:nvSpPr>
          <p:cNvPr id="32" name="Прямоугольник: скругленные углы 31"/>
          <p:cNvSpPr/>
          <p:nvPr/>
        </p:nvSpPr>
        <p:spPr bwMode="auto">
          <a:xfrm>
            <a:off x="514350" y="3714326"/>
            <a:ext cx="11291625" cy="1031795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ru-RU" sz="2800">
              <a:noFill/>
            </a:endParaRPr>
          </a:p>
        </p:txBody>
      </p:sp>
      <p:sp>
        <p:nvSpPr>
          <p:cNvPr id="33" name="Прямоугольник: скругленные углы 32"/>
          <p:cNvSpPr/>
          <p:nvPr/>
        </p:nvSpPr>
        <p:spPr bwMode="auto">
          <a:xfrm>
            <a:off x="514350" y="4939624"/>
            <a:ext cx="11291625" cy="1031795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ru-RU" sz="2800">
              <a:noFill/>
            </a:endParaRPr>
          </a:p>
        </p:txBody>
      </p:sp>
      <p:pic>
        <p:nvPicPr>
          <p:cNvPr id="24" name="Объект 23" descr="Значок 3 со сплошной заливкой"/>
          <p:cNvPicPr>
            <a:picLocks noGrp="1" noChangeAspect="1"/>
          </p:cNvPicPr>
          <p:nvPr>
            <p:ph sz="quarter" idx="34"/>
          </p:nvPr>
        </p:nvPicPr>
        <p:blipFill>
          <a:blip r:embed="rId4"/>
          <a:stretch/>
        </p:blipFill>
        <p:spPr bwMode="auto">
          <a:xfrm>
            <a:off x="635793" y="3798056"/>
            <a:ext cx="882650" cy="882650"/>
          </a:xfrm>
          <a:prstGeom prst="rect">
            <a:avLst/>
          </a:prstGeom>
        </p:spPr>
      </p:pic>
      <p:pic>
        <p:nvPicPr>
          <p:cNvPr id="26" name="Объект 25" descr="Значок 4 со сплошной заливкой"/>
          <p:cNvPicPr>
            <a:picLocks noGrp="1" noChangeAspect="1"/>
          </p:cNvPicPr>
          <p:nvPr>
            <p:ph sz="quarter" idx="35"/>
          </p:nvPr>
        </p:nvPicPr>
        <p:blipFill>
          <a:blip r:embed="rId5"/>
          <a:stretch/>
        </p:blipFill>
        <p:spPr bwMode="auto">
          <a:xfrm>
            <a:off x="635793" y="5017509"/>
            <a:ext cx="882650" cy="882650"/>
          </a:xfrm>
          <a:prstGeom prst="rect">
            <a:avLst/>
          </a:prstGeom>
        </p:spPr>
      </p:pic>
      <p:sp>
        <p:nvSpPr>
          <p:cNvPr id="18" name="Заголовок 17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2800" b="1" dirty="0"/>
              <a:t>План</a:t>
            </a:r>
            <a:endParaRPr sz="2800" b="1" dirty="0"/>
          </a:p>
        </p:txBody>
      </p:sp>
      <p:sp>
        <p:nvSpPr>
          <p:cNvPr id="27" name="Объект 8"/>
          <p:cNvSpPr txBox="1"/>
          <p:nvPr/>
        </p:nvSpPr>
        <p:spPr bwMode="auto">
          <a:xfrm>
            <a:off x="1819275" y="2509792"/>
            <a:ext cx="9736931" cy="8762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/>
              <a:t>Реализация поставленной задачи</a:t>
            </a:r>
          </a:p>
          <a:p>
            <a:pPr>
              <a:defRPr/>
            </a:pPr>
            <a:r>
              <a:rPr lang="ru-RU" sz="1800" dirty="0"/>
              <a:t>Работа с кодом и инструментами, поиск и устранение ошибок</a:t>
            </a:r>
          </a:p>
        </p:txBody>
      </p:sp>
      <p:sp>
        <p:nvSpPr>
          <p:cNvPr id="28" name="Объект 8"/>
          <p:cNvSpPr txBox="1"/>
          <p:nvPr/>
        </p:nvSpPr>
        <p:spPr bwMode="auto">
          <a:xfrm>
            <a:off x="1819276" y="3759203"/>
            <a:ext cx="9936402" cy="8762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/>
              <a:t>Подготовка проекта к защите</a:t>
            </a:r>
          </a:p>
          <a:p>
            <a:pPr>
              <a:defRPr/>
            </a:pPr>
            <a:r>
              <a:rPr lang="ru-RU" sz="1800" dirty="0"/>
              <a:t>Запись процесса работы, создание презентации</a:t>
            </a:r>
          </a:p>
        </p:txBody>
      </p:sp>
      <p:sp>
        <p:nvSpPr>
          <p:cNvPr id="29" name="Объект 8"/>
          <p:cNvSpPr txBox="1"/>
          <p:nvPr/>
        </p:nvSpPr>
        <p:spPr bwMode="auto">
          <a:xfrm>
            <a:off x="1819275" y="4977671"/>
            <a:ext cx="10054765" cy="8762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/>
              <a:t>Защита и изучение фидбека</a:t>
            </a:r>
          </a:p>
          <a:p>
            <a:pPr>
              <a:defRPr/>
            </a:pPr>
            <a:r>
              <a:rPr lang="ru-RU" sz="1800" dirty="0"/>
              <a:t>Выступление, анализ полученного отзыва и работа над ошибками</a:t>
            </a:r>
          </a:p>
        </p:txBody>
      </p:sp>
      <p:pic>
        <p:nvPicPr>
          <p:cNvPr id="19" name="Объект 17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34962" y="782348"/>
            <a:ext cx="1405731" cy="61549"/>
          </a:xfrm>
          <a:prstGeom prst="roundRect">
            <a:avLst>
              <a:gd name="adj" fmla="val 2934"/>
            </a:avLst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40E3A401-0076-4DD1-9E83-8CF59CAE26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2F59D4-9F56-4A76-A4BC-3AFC3F3D2EA8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7CB6A2B-7B68-4F5D-BB3E-7993E0B1320D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EE2C472-2CDE-4DE5-8214-E7A39AA04EB9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9FC6A93-BA3D-4CB4-8C63-D47A29C2C76D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452B86B5-4646-4311-9889-B1A7D48A039D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6BBE9FB-B7B4-420B-8BD9-2392F99EB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Apache Spark</a:t>
            </a:r>
            <a:endParaRPr lang="ru-RU" sz="2400" b="1" dirty="0"/>
          </a:p>
          <a:p>
            <a:r>
              <a:rPr lang="ru-RU" sz="1800" dirty="0"/>
              <a:t>Вычисление метрик, менеджер серверов и имитация потока пользователей в тестовых условиях</a:t>
            </a:r>
          </a:p>
          <a:p>
            <a:endParaRPr lang="ru-RU" sz="1800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CA6F4A85-C726-4136-9F69-11F83D528C25}"/>
              </a:ext>
            </a:extLst>
          </p:cNvPr>
          <p:cNvSpPr>
            <a:spLocks noGrp="1"/>
          </p:cNvSpPr>
          <p:nvPr>
            <p:ph idx="28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Apache Kafka</a:t>
            </a:r>
          </a:p>
          <a:p>
            <a:r>
              <a:rPr lang="ru-RU" sz="1800" dirty="0"/>
              <a:t>Передача данных через темы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97397168-8A3D-4FB8-A6EF-0F2028AE8541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Flask</a:t>
            </a:r>
            <a:endParaRPr lang="en-US" sz="2400" dirty="0"/>
          </a:p>
          <a:p>
            <a:r>
              <a:rPr lang="ru-RU" sz="1800" dirty="0"/>
              <a:t>Отображение данных </a:t>
            </a:r>
            <a:r>
              <a:rPr lang="en-US" sz="1800" dirty="0"/>
              <a:t>real-time</a:t>
            </a:r>
            <a:r>
              <a:rPr lang="ru-RU" sz="1800" dirty="0"/>
              <a:t> (графики, состояние серверов)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11AB294A-6441-4BC8-B04A-E1D8FF96F61D}"/>
              </a:ext>
            </a:extLst>
          </p:cNvPr>
          <p:cNvSpPr>
            <a:spLocks noGrp="1"/>
          </p:cNvSpPr>
          <p:nvPr>
            <p:ph idx="32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Python</a:t>
            </a:r>
          </a:p>
          <a:p>
            <a:r>
              <a:rPr lang="ru-RU" sz="1800" dirty="0"/>
              <a:t>Язык написания проекта</a:t>
            </a:r>
          </a:p>
        </p:txBody>
      </p: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F7FF0D03-4DF9-43C7-8770-BCF10120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Использованные инструменты</a:t>
            </a:r>
          </a:p>
        </p:txBody>
      </p:sp>
      <p:pic>
        <p:nvPicPr>
          <p:cNvPr id="1026" name="Picture 2" descr="Escalado y optimización de Apache Spark con Instana | IBM">
            <a:extLst>
              <a:ext uri="{FF2B5EF4-FFF2-40B4-BE49-F238E27FC236}">
                <a16:creationId xmlns:a16="http://schemas.microsoft.com/office/drawing/2014/main" id="{136A2694-5966-48E3-98CE-BABD8FF2D229}"/>
              </a:ext>
            </a:extLst>
          </p:cNvPr>
          <p:cNvPicPr>
            <a:picLocks noGrp="1" noChangeAspect="1" noChangeArrowheads="1"/>
          </p:cNvPicPr>
          <p:nvPr>
            <p:ph sz="quarter" idx="16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63" t="21684" r="25303" b="21383"/>
          <a:stretch/>
        </p:blipFill>
        <p:spPr bwMode="auto">
          <a:xfrm>
            <a:off x="609615" y="1341136"/>
            <a:ext cx="966365" cy="848254"/>
          </a:xfrm>
          <a:prstGeom prst="hexag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pache Kafka — Википедия">
            <a:extLst>
              <a:ext uri="{FF2B5EF4-FFF2-40B4-BE49-F238E27FC236}">
                <a16:creationId xmlns:a16="http://schemas.microsoft.com/office/drawing/2014/main" id="{937C985C-4F2F-4ED6-862C-ECD01DEE3F12}"/>
              </a:ext>
            </a:extLst>
          </p:cNvPr>
          <p:cNvPicPr>
            <a:picLocks noGrp="1" noChangeAspect="1" noChangeArrowheads="1"/>
          </p:cNvPicPr>
          <p:nvPr>
            <p:ph sz="quarter" idx="3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212" y="2514574"/>
            <a:ext cx="543169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Приложения в Google Play – Flask Web Framework">
            <a:extLst>
              <a:ext uri="{FF2B5EF4-FFF2-40B4-BE49-F238E27FC236}">
                <a16:creationId xmlns:a16="http://schemas.microsoft.com/office/drawing/2014/main" id="{5483B22E-AAD8-4F78-8770-C27B7F771661}"/>
              </a:ext>
            </a:extLst>
          </p:cNvPr>
          <p:cNvPicPr>
            <a:picLocks noGrp="1" noChangeAspect="1" noChangeArrowheads="1"/>
          </p:cNvPicPr>
          <p:nvPr>
            <p:ph sz="quarter" idx="3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4" y="3706813"/>
            <a:ext cx="88265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ython (programming language) - Wikipedia">
            <a:extLst>
              <a:ext uri="{FF2B5EF4-FFF2-40B4-BE49-F238E27FC236}">
                <a16:creationId xmlns:a16="http://schemas.microsoft.com/office/drawing/2014/main" id="{8A1D4450-37EC-429C-BD98-FFB6A2F0E3C8}"/>
              </a:ext>
            </a:extLst>
          </p:cNvPr>
          <p:cNvPicPr>
            <a:picLocks noGrp="1" noChangeAspect="1" noChangeArrowheads="1"/>
          </p:cNvPicPr>
          <p:nvPr>
            <p:ph sz="quarter" idx="3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4" y="4894263"/>
            <a:ext cx="88265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8947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AF29D111-917B-4C9A-A81A-28EB60811B2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556EC-F3BA-481E-8603-4417B7CE408F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A7E93E-E32C-418B-B5C4-2D379E6A246C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1452B8F-D38E-4E33-A64C-321EC5098853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FD2BFA7-0E82-41D6-BE64-9B136526C254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CF6E0B9F-C64B-4F06-B957-42ACC2A89F25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9AF4440-E52B-434C-BCF9-81E2B22E6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563" y="1341136"/>
            <a:ext cx="11040088" cy="876299"/>
          </a:xfrm>
        </p:spPr>
        <p:txBody>
          <a:bodyPr>
            <a:normAutofit/>
          </a:bodyPr>
          <a:lstStyle/>
          <a:p>
            <a:r>
              <a:rPr lang="en-US" sz="2400" b="1" dirty="0"/>
              <a:t>online_sim.py</a:t>
            </a:r>
          </a:p>
          <a:p>
            <a:r>
              <a:rPr lang="ru-RU" sz="1800" dirty="0"/>
              <a:t>Симуляция взаимодействия пользователей с приложением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DDE14AB5-CAB3-48E0-841C-951522AD950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623162" y="2524125"/>
            <a:ext cx="11040087" cy="876299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dirty="0"/>
              <a:t>spark_stream.py</a:t>
            </a:r>
          </a:p>
          <a:p>
            <a:r>
              <a:rPr lang="ru-RU" sz="1900" dirty="0"/>
              <a:t>Обработчик </a:t>
            </a:r>
            <a:r>
              <a:rPr lang="en-US" sz="1900" dirty="0"/>
              <a:t>Spark Structured Streaming</a:t>
            </a:r>
            <a:r>
              <a:rPr lang="ru-RU" sz="1900" dirty="0"/>
              <a:t>. Вычисляет метрики (онлайн, скользящее среднее, мгновенная скорость изменения)</a:t>
            </a:r>
            <a:endParaRPr lang="ru-RU" sz="1500" dirty="0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A79C7246-7E78-4B5F-9937-FFCBAAD30460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637563" y="3700714"/>
            <a:ext cx="11040087" cy="876299"/>
          </a:xfrm>
        </p:spPr>
        <p:txBody>
          <a:bodyPr>
            <a:normAutofit/>
          </a:bodyPr>
          <a:lstStyle/>
          <a:p>
            <a:r>
              <a:rPr lang="en-US" sz="2400" b="1" dirty="0"/>
              <a:t>Server_manager.py</a:t>
            </a:r>
          </a:p>
          <a:p>
            <a:r>
              <a:rPr lang="ru-RU" sz="1800" dirty="0"/>
              <a:t>Прогнозирует нагрузку и масштабирует сервера на основании прогноза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483A0149-335A-42A2-97A8-566CB2FF52AD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637563" y="4880503"/>
            <a:ext cx="11040087" cy="876299"/>
          </a:xfrm>
        </p:spPr>
        <p:txBody>
          <a:bodyPr>
            <a:normAutofit/>
          </a:bodyPr>
          <a:lstStyle/>
          <a:p>
            <a:r>
              <a:rPr lang="ru-RU" sz="2800" b="1" dirty="0"/>
              <a:t>Веб-монитор</a:t>
            </a:r>
          </a:p>
          <a:p>
            <a:r>
              <a:rPr lang="ru-RU" sz="1800" dirty="0"/>
              <a:t>Выводит данные в виде графиков</a:t>
            </a:r>
          </a:p>
        </p:txBody>
      </p: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6B1AB34-6F6E-4F7D-BD3B-033146287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Структура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453498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35338488-AE7A-4FFA-987F-9DA446647B1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B7F576BB-C5CC-4BA4-B3B0-E53BE53535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135" b="69476"/>
          <a:stretch/>
        </p:blipFill>
        <p:spPr>
          <a:xfrm>
            <a:off x="334961" y="1427824"/>
            <a:ext cx="8653064" cy="2001176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29658EE7-E5A4-4F2F-BE78-BCC031D9D24F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Менеджер серверов принимает решение о выключении сервера в связи с падением </a:t>
            </a:r>
            <a:r>
              <a:rPr lang="ru-RU" sz="1800" dirty="0" err="1"/>
              <a:t>онлайна</a:t>
            </a:r>
            <a:r>
              <a:rPr lang="ru-RU" sz="1800" dirty="0"/>
              <a:t>: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BD11CF1A-0BCD-4607-B2C7-997C56AE840D}"/>
              </a:ext>
            </a:extLst>
          </p:cNvPr>
          <p:cNvPicPr>
            <a:picLocks noGrp="1" noChangeAspect="1"/>
          </p:cNvPicPr>
          <p:nvPr>
            <p:ph idx="19"/>
          </p:nvPr>
        </p:nvPicPr>
        <p:blipFill rotWithShape="1">
          <a:blip r:embed="rId2"/>
          <a:srcRect t="80125" b="3744"/>
          <a:stretch/>
        </p:blipFill>
        <p:spPr>
          <a:xfrm>
            <a:off x="334961" y="4405097"/>
            <a:ext cx="8679332" cy="1670013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A849835-6D22-48B4-B7B8-DAA45106A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Работа проекта</a:t>
            </a:r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BE998910-1D69-45DD-BCBA-62E028E001C6}"/>
              </a:ext>
            </a:extLst>
          </p:cNvPr>
          <p:cNvSpPr txBox="1">
            <a:spLocks/>
          </p:cNvSpPr>
          <p:nvPr/>
        </p:nvSpPr>
        <p:spPr bwMode="auto">
          <a:xfrm>
            <a:off x="334963" y="3927807"/>
            <a:ext cx="9418637" cy="46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Аналогичное решение, но по </a:t>
            </a:r>
            <a:r>
              <a:rPr lang="ru-RU" sz="1800" i="1" dirty="0"/>
              <a:t>включению</a:t>
            </a:r>
            <a:r>
              <a:rPr lang="ru-RU" sz="1800" b="0" dirty="0"/>
              <a:t> </a:t>
            </a:r>
            <a:r>
              <a:rPr lang="ru-RU" sz="1800" dirty="0"/>
              <a:t>сервера на фоне растущего числа пользователей:</a:t>
            </a:r>
          </a:p>
        </p:txBody>
      </p:sp>
    </p:spTree>
    <p:extLst>
      <p:ext uri="{BB962C8B-B14F-4D97-AF65-F5344CB8AC3E}">
        <p14:creationId xmlns:p14="http://schemas.microsoft.com/office/powerpoint/2010/main" val="1934078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81F26B39-3B8D-4994-9F60-29BF0F41A4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585F0A66-7542-4C0B-BC75-C63C1EA1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Работа веб-монитора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837DD76-EE8E-45CB-B301-B90CFC129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788" y="1044566"/>
            <a:ext cx="8666424" cy="555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983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1ACEC7-D4E7-49A9-99C7-C28166B54012}" type="slidenum">
              <a:rPr lang="ru-RU"/>
              <a:t>8</a:t>
            </a:fld>
            <a:endParaRPr lang="ru-RU"/>
          </a:p>
        </p:txBody>
      </p:sp>
      <p:sp>
        <p:nvSpPr>
          <p:cNvPr id="21" name="Заголовок 20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 b="1" dirty="0"/>
              <a:t>Заключение</a:t>
            </a:r>
            <a:endParaRPr b="1" dirty="0"/>
          </a:p>
        </p:txBody>
      </p:sp>
      <p:sp>
        <p:nvSpPr>
          <p:cNvPr id="23" name="Прямоугольник: скругленные углы 22"/>
          <p:cNvSpPr/>
          <p:nvPr/>
        </p:nvSpPr>
        <p:spPr bwMode="auto">
          <a:xfrm>
            <a:off x="514350" y="1864077"/>
            <a:ext cx="6227643" cy="1031795"/>
          </a:xfrm>
          <a:prstGeom prst="roundRect">
            <a:avLst>
              <a:gd name="adj" fmla="val 16667"/>
            </a:avLst>
          </a:prstGeom>
          <a:solidFill>
            <a:srgbClr val="ECECEC"/>
          </a:solidFill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ru-RU" sz="2800">
              <a:noFill/>
            </a:endParaRPr>
          </a:p>
        </p:txBody>
      </p:sp>
      <p:sp>
        <p:nvSpPr>
          <p:cNvPr id="28" name="Прямоугольник: скругленные углы 27"/>
          <p:cNvSpPr/>
          <p:nvPr/>
        </p:nvSpPr>
        <p:spPr bwMode="auto">
          <a:xfrm>
            <a:off x="514351" y="3152730"/>
            <a:ext cx="6227642" cy="1031795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ru-RU" sz="2800">
              <a:noFill/>
            </a:endParaRPr>
          </a:p>
        </p:txBody>
      </p:sp>
      <p:sp>
        <p:nvSpPr>
          <p:cNvPr id="29" name="Прямоугольник: скругленные углы 28"/>
          <p:cNvSpPr/>
          <p:nvPr/>
        </p:nvSpPr>
        <p:spPr bwMode="auto">
          <a:xfrm>
            <a:off x="514350" y="4482131"/>
            <a:ext cx="6227641" cy="1031795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ru-RU" sz="2800">
              <a:noFill/>
            </a:endParaRPr>
          </a:p>
        </p:txBody>
      </p:sp>
      <p:sp>
        <p:nvSpPr>
          <p:cNvPr id="31" name="Объект 11"/>
          <p:cNvSpPr txBox="1"/>
          <p:nvPr/>
        </p:nvSpPr>
        <p:spPr bwMode="auto">
          <a:xfrm>
            <a:off x="729736" y="1968629"/>
            <a:ext cx="1962134" cy="882841"/>
          </a:xfrm>
          <a:prstGeom prst="roundRect">
            <a:avLst>
              <a:gd name="adj" fmla="val 2934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>
                <a:noFill/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400" b="1" dirty="0">
                <a:solidFill>
                  <a:schemeClr val="tx1"/>
                </a:solidFill>
              </a:rPr>
              <a:t>Получилось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32" name="Объект 8"/>
          <p:cNvSpPr txBox="1"/>
          <p:nvPr/>
        </p:nvSpPr>
        <p:spPr bwMode="auto">
          <a:xfrm>
            <a:off x="2749077" y="1984137"/>
            <a:ext cx="4025875" cy="8762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defRPr/>
            </a:pPr>
            <a:r>
              <a:rPr lang="ru-RU" sz="2000" b="1" dirty="0">
                <a:solidFill>
                  <a:schemeClr val="tx2"/>
                </a:solidFill>
                <a:latin typeface="+mj-lt"/>
                <a:cs typeface="Arial"/>
              </a:rPr>
              <a:t>Создать систему предиктивного расширения и сворачивания серверов</a:t>
            </a:r>
            <a:endParaRPr lang="ru-RU" sz="2000" b="1" dirty="0">
              <a:latin typeface="+mj-lt"/>
            </a:endParaRPr>
          </a:p>
        </p:txBody>
      </p:sp>
      <p:sp>
        <p:nvSpPr>
          <p:cNvPr id="33" name="Объект 9"/>
          <p:cNvSpPr txBox="1"/>
          <p:nvPr/>
        </p:nvSpPr>
        <p:spPr bwMode="auto">
          <a:xfrm>
            <a:off x="2783500" y="3130075"/>
            <a:ext cx="3915745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sz="1800" b="1" dirty="0">
                <a:latin typeface="+mj-lt"/>
                <a:cs typeface="Arial"/>
              </a:rPr>
              <a:t>Важные навыки работы с системой </a:t>
            </a:r>
            <a:r>
              <a:rPr lang="en-US" sz="1800" b="1" dirty="0">
                <a:latin typeface="+mj-lt"/>
                <a:cs typeface="Arial"/>
              </a:rPr>
              <a:t>Apache </a:t>
            </a:r>
            <a:r>
              <a:rPr lang="ru-RU" sz="1800" b="1" dirty="0">
                <a:latin typeface="+mj-lt"/>
                <a:cs typeface="Arial"/>
              </a:rPr>
              <a:t>и получили опыт работы с многокомпонентным приложением</a:t>
            </a:r>
            <a:endParaRPr sz="2400" b="1" dirty="0"/>
          </a:p>
        </p:txBody>
      </p:sp>
      <p:sp>
        <p:nvSpPr>
          <p:cNvPr id="34" name="Объект 11"/>
          <p:cNvSpPr txBox="1"/>
          <p:nvPr/>
        </p:nvSpPr>
        <p:spPr bwMode="auto">
          <a:xfrm>
            <a:off x="609616" y="3245754"/>
            <a:ext cx="1962134" cy="882841"/>
          </a:xfrm>
          <a:prstGeom prst="roundRect">
            <a:avLst>
              <a:gd name="adj" fmla="val 2934"/>
            </a:avLst>
          </a:prstGeom>
          <a:noFill/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>
                <a:noFill/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 sz="2400" b="1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ru-RU" sz="2400" b="1" dirty="0">
                <a:solidFill>
                  <a:schemeClr val="bg1"/>
                </a:solidFill>
              </a:rPr>
              <a:t>Приобрели </a:t>
            </a:r>
            <a:endParaRPr b="1" dirty="0"/>
          </a:p>
          <a:p>
            <a:pPr>
              <a:defRPr/>
            </a:pP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5" name="Объект 10"/>
          <p:cNvSpPr txBox="1"/>
          <p:nvPr/>
        </p:nvSpPr>
        <p:spPr bwMode="auto">
          <a:xfrm>
            <a:off x="2755895" y="4485226"/>
            <a:ext cx="394335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sz="2000" b="1" dirty="0"/>
              <a:t>Получить фидбэк, развивать проект дальше</a:t>
            </a:r>
            <a:endParaRPr sz="2000" b="1" dirty="0"/>
          </a:p>
        </p:txBody>
      </p:sp>
      <p:sp>
        <p:nvSpPr>
          <p:cNvPr id="36" name="Объект 11"/>
          <p:cNvSpPr txBox="1"/>
          <p:nvPr/>
        </p:nvSpPr>
        <p:spPr bwMode="auto">
          <a:xfrm>
            <a:off x="693632" y="4526333"/>
            <a:ext cx="1962134" cy="882841"/>
          </a:xfrm>
          <a:prstGeom prst="roundRect">
            <a:avLst>
              <a:gd name="adj" fmla="val 2934"/>
            </a:avLst>
          </a:prstGeom>
          <a:noFill/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>
                <a:noFill/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 sz="2400" b="1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ru-RU" sz="2400" b="1" dirty="0">
                <a:solidFill>
                  <a:schemeClr val="bg1"/>
                </a:solidFill>
              </a:rPr>
              <a:t>Планируем </a:t>
            </a:r>
            <a:endParaRPr b="1" dirty="0"/>
          </a:p>
          <a:p>
            <a:pPr>
              <a:defRPr/>
            </a:pP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7" name="Овал 36"/>
          <p:cNvSpPr/>
          <p:nvPr/>
        </p:nvSpPr>
        <p:spPr bwMode="auto">
          <a:xfrm>
            <a:off x="7094737" y="1108185"/>
            <a:ext cx="1271789" cy="1271789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ru-RU" sz="2800">
              <a:noFill/>
            </a:endParaRPr>
          </a:p>
        </p:txBody>
      </p:sp>
      <p:sp>
        <p:nvSpPr>
          <p:cNvPr id="38" name="Овал 37"/>
          <p:cNvSpPr/>
          <p:nvPr/>
        </p:nvSpPr>
        <p:spPr bwMode="auto">
          <a:xfrm>
            <a:off x="10668954" y="2018785"/>
            <a:ext cx="391265" cy="391265"/>
          </a:xfrm>
          <a:prstGeom prst="ellipse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ru-RU" sz="2800">
              <a:noFill/>
            </a:endParaRPr>
          </a:p>
        </p:txBody>
      </p:sp>
      <p:sp>
        <p:nvSpPr>
          <p:cNvPr id="39" name="Овал 38"/>
          <p:cNvSpPr/>
          <p:nvPr/>
        </p:nvSpPr>
        <p:spPr bwMode="auto">
          <a:xfrm>
            <a:off x="10230714" y="4681873"/>
            <a:ext cx="876480" cy="876480"/>
          </a:xfrm>
          <a:prstGeom prst="ellipse">
            <a:avLst/>
          </a:prstGeom>
          <a:solidFill>
            <a:schemeClr val="accent3"/>
          </a:solidFill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ru-RU" sz="2800">
              <a:noFill/>
            </a:endParaRPr>
          </a:p>
        </p:txBody>
      </p:sp>
      <p:pic>
        <p:nvPicPr>
          <p:cNvPr id="25" name="Объект 1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34962" y="782348"/>
            <a:ext cx="1405731" cy="61549"/>
          </a:xfrm>
          <a:prstGeom prst="roundRect">
            <a:avLst>
              <a:gd name="adj" fmla="val 2934"/>
            </a:avLst>
          </a:prstGeom>
          <a:noFill/>
        </p:spPr>
      </p:pic>
      <p:pic>
        <p:nvPicPr>
          <p:cNvPr id="26" name="Picture 2" descr="Escalado y optimización de Apache Spark con Instana | IBM">
            <a:extLst>
              <a:ext uri="{FF2B5EF4-FFF2-40B4-BE49-F238E27FC236}">
                <a16:creationId xmlns:a16="http://schemas.microsoft.com/office/drawing/2014/main" id="{41EC5BB1-7980-42D5-9886-DF46C3BE96A7}"/>
              </a:ext>
            </a:extLst>
          </p:cNvPr>
          <p:cNvPicPr>
            <a:picLocks noGrp="1" noChangeAspect="1" noChangeArrowheads="1"/>
          </p:cNvPicPr>
          <p:nvPr>
            <p:ph type="pic" sz="quarter" idx="4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3" r="12373"/>
          <a:stretch/>
        </p:blipFill>
        <p:spPr bwMode="auto">
          <a:xfrm>
            <a:off x="7654925" y="2151063"/>
            <a:ext cx="3273425" cy="3275012"/>
          </a:xfrm>
          <a:prstGeom prst="hexag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0" descr="Python (programming language) - Wikipedia">
            <a:extLst>
              <a:ext uri="{FF2B5EF4-FFF2-40B4-BE49-F238E27FC236}">
                <a16:creationId xmlns:a16="http://schemas.microsoft.com/office/drawing/2014/main" id="{FE8DE999-5052-4315-AB94-401041FB7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0714" y="4688537"/>
            <a:ext cx="88265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Приложения в Google Play – Flask Web Framework">
            <a:extLst>
              <a:ext uri="{FF2B5EF4-FFF2-40B4-BE49-F238E27FC236}">
                <a16:creationId xmlns:a16="http://schemas.microsoft.com/office/drawing/2014/main" id="{8855EECF-1B09-434B-B928-3F4E83220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140" y="1331767"/>
            <a:ext cx="88265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264</Words>
  <Application>Microsoft Office PowerPoint</Application>
  <PresentationFormat>Широкоэкранный</PresentationFormat>
  <Paragraphs>54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Montserrat Medium</vt:lpstr>
      <vt:lpstr>Тема Office</vt:lpstr>
      <vt:lpstr>Проект «Предиктивное распределение ресурсов»</vt:lpstr>
      <vt:lpstr>Цель и актуальность</vt:lpstr>
      <vt:lpstr>План</vt:lpstr>
      <vt:lpstr>Использованные инструменты</vt:lpstr>
      <vt:lpstr>Структура проекта</vt:lpstr>
      <vt:lpstr>Работа проекта</vt:lpstr>
      <vt:lpstr>Работа веб-монитора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«Предиктивное распределение ресурсов»</dc:title>
  <dc:creator>Никита Кондрашкин</dc:creator>
  <cp:lastModifiedBy>Никита Кондрашкин</cp:lastModifiedBy>
  <cp:revision>106</cp:revision>
  <dcterms:created xsi:type="dcterms:W3CDTF">2026-06-24T14:09:15Z</dcterms:created>
  <dcterms:modified xsi:type="dcterms:W3CDTF">2026-06-25T12:25:05Z</dcterms:modified>
</cp:coreProperties>
</file>